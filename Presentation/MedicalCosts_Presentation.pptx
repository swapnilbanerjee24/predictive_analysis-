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9276410d6740f7" /><Relationship Type="http://schemas.openxmlformats.org/officeDocument/2006/relationships/extended-properties" Target="/docProps/app.xml" Id="Raa953c64391149ca" /><Relationship Type="http://schemas.openxmlformats.org/officeDocument/2006/relationships/officeDocument" Target="/ppt/presentation.xml" Id="R3e6001e5256345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1198f22826476e"/>
  </p:sldMasterIdLst>
  <p:notesMasterIdLst>
    <p:notesMasterId xmlns:r="http://schemas.openxmlformats.org/officeDocument/2006/relationships" r:id="R63dc7ff393d24f20"/>
  </p:notesMasterIdLst>
  <p:sldIdLst>
    <p:sldId xmlns:r="http://schemas.openxmlformats.org/officeDocument/2006/relationships" id="256" r:id="R9c0d58f143e14ec1"/>
    <p:sldId xmlns:r="http://schemas.openxmlformats.org/officeDocument/2006/relationships" id="257" r:id="R47330eaac19a44c6"/>
    <p:sldId xmlns:r="http://schemas.openxmlformats.org/officeDocument/2006/relationships" id="258" r:id="R3dc8f138da1043bf"/>
    <p:sldId xmlns:r="http://schemas.openxmlformats.org/officeDocument/2006/relationships" id="259" r:id="Rcc7ef5d5359745bb"/>
    <p:sldId xmlns:r="http://schemas.openxmlformats.org/officeDocument/2006/relationships" id="260" r:id="R598f7bb8cc094931"/>
    <p:sldId xmlns:r="http://schemas.openxmlformats.org/officeDocument/2006/relationships" id="261" r:id="Rd0e76ba71edb452c"/>
    <p:sldId xmlns:r="http://schemas.openxmlformats.org/officeDocument/2006/relationships" id="262" r:id="R9c1abc4fe4764c69"/>
    <p:sldId xmlns:r="http://schemas.openxmlformats.org/officeDocument/2006/relationships" id="263" r:id="R484ed820b6be4374"/>
    <p:sldId xmlns:r="http://schemas.openxmlformats.org/officeDocument/2006/relationships" id="264" r:id="Rcb5be567e7a5443b"/>
    <p:sldId xmlns:r="http://schemas.openxmlformats.org/officeDocument/2006/relationships" id="265" r:id="R8baabfd615304f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198f22826476e" /><Relationship Type="http://schemas.openxmlformats.org/officeDocument/2006/relationships/theme" Target="/ppt/theme/theme1.xml" Id="Re16226318d2d4215" /><Relationship Type="http://schemas.openxmlformats.org/officeDocument/2006/relationships/notesMaster" Target="/ppt/notesMasters/notesMaster1.xml" Id="R63dc7ff393d24f20" /><Relationship Type="http://schemas.openxmlformats.org/officeDocument/2006/relationships/presProps" Target="/ppt/presProps.xml" Id="R2ccd324827c741a2" /><Relationship Type="http://schemas.openxmlformats.org/officeDocument/2006/relationships/viewProps" Target="/ppt/viewProps.xml" Id="R7dd01e7623074282" /><Relationship Type="http://schemas.openxmlformats.org/officeDocument/2006/relationships/tableStyles" Target="/ppt/tableStyles.xml" Id="Rca2063dfd71a49b3" /><Relationship Type="http://schemas.openxmlformats.org/officeDocument/2006/relationships/slide" Target="/ppt/slides/slide1.xml" Id="R9c0d58f143e14ec1" /><Relationship Type="http://schemas.openxmlformats.org/officeDocument/2006/relationships/slide" Target="/ppt/slides/slide2.xml" Id="R47330eaac19a44c6" /><Relationship Type="http://schemas.openxmlformats.org/officeDocument/2006/relationships/slide" Target="/ppt/slides/slide3.xml" Id="R3dc8f138da1043bf" /><Relationship Type="http://schemas.openxmlformats.org/officeDocument/2006/relationships/slide" Target="/ppt/slides/slide4.xml" Id="Rcc7ef5d5359745bb" /><Relationship Type="http://schemas.openxmlformats.org/officeDocument/2006/relationships/slide" Target="/ppt/slides/slide5.xml" Id="R598f7bb8cc094931" /><Relationship Type="http://schemas.openxmlformats.org/officeDocument/2006/relationships/slide" Target="/ppt/slides/slide6.xml" Id="Rd0e76ba71edb452c" /><Relationship Type="http://schemas.openxmlformats.org/officeDocument/2006/relationships/slide" Target="/ppt/slides/slide7.xml" Id="R9c1abc4fe4764c69" /><Relationship Type="http://schemas.openxmlformats.org/officeDocument/2006/relationships/slide" Target="/ppt/slides/slide8.xml" Id="R484ed820b6be4374" /><Relationship Type="http://schemas.openxmlformats.org/officeDocument/2006/relationships/slide" Target="/ppt/slides/slide9.xml" Id="Rcb5be567e7a5443b" /><Relationship Type="http://schemas.openxmlformats.org/officeDocument/2006/relationships/slide" Target="/ppt/slides/slide10.xml" Id="R8baabfd615304f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dff63ae010848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3dc2fab37c4363" /><Relationship Type="http://schemas.openxmlformats.org/officeDocument/2006/relationships/notesMaster" Target="/ppt/notesMasters/notesMaster1.xml" Id="Rceb1aa27a6ab47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d8eced18dd4c1f" /><Relationship Type="http://schemas.openxmlformats.org/officeDocument/2006/relationships/notesMaster" Target="/ppt/notesMasters/notesMaster1.xml" Id="Rfec235c5e47a4f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6d56fae2744b20" /><Relationship Type="http://schemas.openxmlformats.org/officeDocument/2006/relationships/notesMaster" Target="/ppt/notesMasters/notesMaster1.xml" Id="Re4010024540a40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3cc56511fe4574" /><Relationship Type="http://schemas.openxmlformats.org/officeDocument/2006/relationships/notesMaster" Target="/ppt/notesMasters/notesMaster1.xml" Id="R130f5913023042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37b9d4896a4715" /><Relationship Type="http://schemas.openxmlformats.org/officeDocument/2006/relationships/notesMaster" Target="/ppt/notesMasters/notesMaster1.xml" Id="R8fc7a740385942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635f758c9f496f" /><Relationship Type="http://schemas.openxmlformats.org/officeDocument/2006/relationships/notesMaster" Target="/ppt/notesMasters/notesMaster1.xml" Id="R67fe8c4f854b45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f3403c6904f8f" /><Relationship Type="http://schemas.openxmlformats.org/officeDocument/2006/relationships/notesMaster" Target="/ppt/notesMasters/notesMaster1.xml" Id="R10214088f63d48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ee8cb26b90469b" /><Relationship Type="http://schemas.openxmlformats.org/officeDocument/2006/relationships/notesMaster" Target="/ppt/notesMasters/notesMaster1.xml" Id="R25ddc772ae5a4f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a8487dd5f84add" /><Relationship Type="http://schemas.openxmlformats.org/officeDocument/2006/relationships/notesMaster" Target="/ppt/notesMasters/notesMaster1.xml" Id="R2235272e140146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32e56c362b4cc2" /><Relationship Type="http://schemas.openxmlformats.org/officeDocument/2006/relationships/notesMaster" Target="/ppt/notesMasters/notesMaster1.xml" Id="R1b4672b8887a48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1549a4fe7427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34790df1ccf4b1c" /><Relationship Type="http://schemas.openxmlformats.org/officeDocument/2006/relationships/slideLayout" Target="/ppt/slideLayouts/slideLayout2.xml" Id="R092c7addf0ab42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2c7addf0ab42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059457214c47f0" /><Relationship Type="http://schemas.openxmlformats.org/officeDocument/2006/relationships/notesSlide" Target="/ppt/notesSlides/notesSlide1.xml" Id="Re2e287afe4df4f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19419b2f0d4645" /><Relationship Type="http://schemas.openxmlformats.org/officeDocument/2006/relationships/notesSlide" Target="/ppt/notesSlides/notesSlide2.xml" Id="R15f9221bc023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9dddc369f84bd9" /><Relationship Type="http://schemas.openxmlformats.org/officeDocument/2006/relationships/notesSlide" Target="/ppt/notesSlides/notesSlide3.xml" Id="R7561327f1be247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09d73f9134d0c" /><Relationship Type="http://schemas.openxmlformats.org/officeDocument/2006/relationships/notesSlide" Target="/ppt/notesSlides/notesSlide4.xml" Id="Re1c7929d68354c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a5a0e566464e57" /><Relationship Type="http://schemas.openxmlformats.org/officeDocument/2006/relationships/notesSlide" Target="/ppt/notesSlides/notesSlide5.xml" Id="R9aceec56f49549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6056550d2b4e24" /><Relationship Type="http://schemas.openxmlformats.org/officeDocument/2006/relationships/notesSlide" Target="/ppt/notesSlides/notesSlide6.xml" Id="Rbf76419265a642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d2cb2c94c4b2f" /><Relationship Type="http://schemas.openxmlformats.org/officeDocument/2006/relationships/notesSlide" Target="/ppt/notesSlides/notesSlide7.xml" Id="R644f5efb03ba4c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072f71a8864b9f" /><Relationship Type="http://schemas.openxmlformats.org/officeDocument/2006/relationships/notesSlide" Target="/ppt/notesSlides/notesSlide8.xml" Id="R1aa7447cd7c146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6644f659c940dd" /><Relationship Type="http://schemas.openxmlformats.org/officeDocument/2006/relationships/notesSlide" Target="/ppt/notesSlides/notesSlide9.xml" Id="Rdabaa6f5d81443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4bdec3e7d341af" /><Relationship Type="http://schemas.openxmlformats.org/officeDocument/2006/relationships/notesSlide" Target="/ppt/notesSlides/notesSlide10.xml" Id="Rf7c3b3aba0a149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A0DE4-9D88-4598-B50C-69CCC7CE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35ED7-70C9-4271-8795-C68FC155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845F3-06AE-4EE6-BA49-7BF72A70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2BE90-7BF4-47C3-A541-7BE2CED5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6E779-3410-4D5D-A7A7-A6389559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95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Predictive Analysis of Medical Insurance Costs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B0366-9C6F-470A-9825-ED0920DE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Estimating annual medical insurance charges from client profile attributes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51E3B-2382-4465-B20B-695EFA2E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19C6C-5E27-4FB0-B486-7C04FA26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8698E-C68A-4451-BFA9-FE1891F6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Credentials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06721-6925-4883-9142-150E1796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Name: Swapnil Banerjee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FE3B3-62EA-4F92-ADA5-22BEEF8C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Roll: 0719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86FA2-C7C4-41AA-9A5E-A4C869CE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122B8-0601-4EBF-8FD9-74A348B0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D6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D6E8"/>
                </a:solidFill>
                <a:latin typeface="Aptos"/>
                <a:ea typeface="Aptos"/>
                <a:cs typeface="Aptos"/>
              </a:rPr>
              <a:t>Topic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CA626-0B9A-4A67-BEE6-67A01CDF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76675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Medical Insurance Cost 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F01DE-DDA0-4AF5-88CD-53CA3265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Dataset source: insurance.csv | Notebook: PREDICTIVE_ANALYSIS_MedicalCosts.ipynb</a:t>
            </a:r>
          </a:p>
        </p:txBody>
      </p:sp>
    </p:spTree>
    <p:extLst>
      <p:ext uri="{BB962C8B-B14F-4D97-AF65-F5344CB8AC3E}">
        <p14:creationId xmlns:p14="http://schemas.microsoft.com/office/powerpoint/2010/main" val="73344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5B5F6-518A-4570-BAF5-909D33E3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5C0E4-90C8-4AC2-80D4-09F3F9D9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56BB8-74FE-4F74-9E15-CE9D6DD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6457EAE-475A-456D-8F86-2139AEB9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C589AD1-6CC6-4230-BE8B-3A6B7FAE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PROJECT 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A758F-10A5-425A-BF1B-B5A9684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project turns client profile data into an annual insurance charge estimate.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CE647-CDFE-4A50-9C96-6E6DCE00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The goal is to predict medical insurance cost using measurable client attributes such as age, BMI, dependents, smoking habit, sex, and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5E779-FFE7-4ACC-B742-010B6E1C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33BE0-1055-4480-85D6-C4894E84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Medical Insurance Cost Prediction | Swapnil Banerjee | Roll 0719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10096-C36A-483A-A0FC-C7C9761A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BC4BA-5D77-473C-AEAF-612750D4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B4C0C-5133-41AB-8D4D-9C1F0CA0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69758-7397-44B5-B41D-86ACC743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Client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5E92E-5EC2-4289-AECE-FDA21F13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Age, BMI, children, smoking habit, sex, region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0F814-0018-433E-ACC7-93B31B51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76600"/>
            <a:ext cx="342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7D2D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7D2D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92DB6-1B93-4469-9395-1462C7F2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37BC1-E2A6-410E-A61F-39CFBBFD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5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B2778-A721-4F39-9032-75371543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508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508D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0DC83-E687-410D-B02B-1AACEDCF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Encode categories and add obesity plus smoker-obesity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67F98-3063-4A44-BCE1-930D419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76600"/>
            <a:ext cx="342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7D2D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7D2D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F1E91-048E-46AA-AE9F-D4AF5AE4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C754D-1098-496C-9297-78044DD1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C6118-9277-4512-94E8-DE769213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Regression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C95AFD-5F20-4492-BF0F-73592079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Compare candidate models using holdout and cross-validation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68356-5B35-41E7-8A7A-17F5DB7B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342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7D2D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7D2D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798DBA-DB7F-460C-9090-476E9E5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F6E1D-861E-47DE-8AEC-C80B899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14FBE-0571-401E-BD82-A7BBF642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289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Annual estimate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2183D4-6957-41B2-9856-49FDABD4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Output expected annual charge for a new client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C91E0-A942-4D8D-B7CA-F69DE66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8A1C9D-C316-4CCB-B148-38BD02E0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47E53-5CAC-4838-99B7-7E45D5FD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925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Business use: support quotation, portfolio risk screening, and explainable pricing discussions. The model does not replace actuarial judgment, but it gives a data-backed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736495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E9F29-318B-4DE8-B963-6C45FB13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1CF3C-4EF7-4EAE-84DF-34731E32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752A3-114C-437D-AB4A-092C78AE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345D22-01C4-4C34-9E54-B30A16D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EFA7B06-3D35-4583-95F5-A78901D6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DATASET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C881A-99FF-402C-AF8B-037F0A92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dataset is compact, complete, and suitable for a focused regression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EDFF6-FB44-4E13-81AC-90B1F3F8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It contains individual client-level medical insurance records with one continuous target variable: annual charges.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C5FE4-3F48-46A8-86FA-49B63B12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A1273-0629-4FCE-A061-A36FE7BC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Medical Insurance Cost Prediction | Swapnil Banerjee | Roll 0719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339A3-E066-4F56-8C8B-C1235AC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B1ABD-DFE0-4E52-9F44-EA99DD3E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EA7E3-FFC1-4D00-87C2-1FF21A60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92DD6-7142-42FB-B544-1EAFEA17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F5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3F5C"/>
                </a:solidFill>
                <a:latin typeface="Aptos Display"/>
                <a:ea typeface="Aptos Display"/>
                <a:cs typeface="Aptos Display"/>
              </a:rPr>
              <a:t>1,338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884BA-2390-4138-BF18-021A578F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Original rows in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63BF4-0070-4544-AB86-DE09A27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C8F5F-4FD4-49EC-855F-73DD252C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2AD81-0919-4E50-A872-7C28B70D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rPr>
              <a:t>1,337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61CDA-F25E-4B5D-BEA8-493E579C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908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Rows after removing duplicate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2F859-C73D-4673-841A-E1C8CD42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6695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8DCB2-CBC6-40FB-A1F4-8912C1CA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669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5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7D168-9D7D-404C-BF09-19185446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193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8508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58508D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99AF1-07F6-467E-83C5-A6F8CD64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908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Columns / predictors plus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80CB6-FA07-4B72-879C-7A291D4D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C8A8E-3B3A-484C-BD38-9431499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517D8-85E0-42C7-91EC-BB9363C3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4A3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4A38"/>
                </a:solidFill>
                <a:latin typeface="Aptos Display"/>
                <a:ea typeface="Aptos Display"/>
                <a:cs typeface="Aptos Display"/>
              </a:rPr>
              <a:t>1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FF639-88BB-4E81-9B5A-A42FCAD5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908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charges: annual medical cost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E98B4-A67A-488F-A9A8-7A05D9EE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BFE6C-74A2-4D90-8B68-0F4DFDFC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1543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8F42D-869B-4BB1-8E21-2D316CE0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57625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38144F-7669-482F-8DDA-7531F6CA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33825"/>
            <a:ext cx="192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4DBB7-7D88-4B9B-B005-45D1EF1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57625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C7F19D-E1E6-4B68-9497-9E226756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33825"/>
            <a:ext cx="2019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0DA04-9190-4963-BCB8-1B9DFC81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57625"/>
            <a:ext cx="2476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F726E4-79BF-4669-9C23-2FC2528E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33825"/>
            <a:ext cx="2305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Modeling relevance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C521D6-EB26-4177-AD24-05DF273D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DE8F5A-2269-40C2-A360-3C8A9B9C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543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Mean charge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6511C6-3F90-4522-B1D8-38588670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29100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1279BD-7CBC-4C49-8102-3EA42F71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05300"/>
            <a:ext cx="192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$13,279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CE878-CAF6-43F0-9CD2-01F9DECD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2910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C6DDB-E947-43D7-813C-27D4F910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05300"/>
            <a:ext cx="2019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Average annual cost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B1555-3248-496D-904E-C675FD63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2476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98A0C0-373E-4986-9136-C4ED71CF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05300"/>
            <a:ext cx="2305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Baseline portfolio cost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AA9BB4-00BD-4627-84AE-FE242842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00575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5A1A55-1A4D-47F0-80D9-6EAD622B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76775"/>
            <a:ext cx="1543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Median charge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51383F-C98E-4645-89D6-4630A012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00575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D36C5A-7CA7-4285-93F1-CFADE2C8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76775"/>
            <a:ext cx="192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$9,386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A4BC6C-51B0-4415-9670-8EF2D5E1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00575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86CECA-842D-443B-9ADD-B80B22D6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76775"/>
            <a:ext cx="2019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Middle client cost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895257-6276-42D5-9D0B-8564445F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00575"/>
            <a:ext cx="2476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0732B6-2651-485F-A21E-E5CDA983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76775"/>
            <a:ext cx="2305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Shows skew vs mean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9EA959-A0C2-4BDB-8AB7-ABB577C6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DF2D1B-5555-4E07-9455-0863AE1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1543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Max charge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B5FEB1-90C3-48C9-849E-96378DB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72050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7280FE-4F1A-41CE-85C7-ACCB345D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48250"/>
            <a:ext cx="192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$63,770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173829-78AB-42B2-BBC9-155122C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7205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FA20C2-DF76-4DD0-B401-4BFC4756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48250"/>
            <a:ext cx="2019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Highest observed cost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FAA97D-BB12-4146-B0B6-06A3C6D4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72050"/>
            <a:ext cx="2476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74DEA6-E7DE-4B07-BDC8-30E26183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2305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Stress point for errors</a:t>
            </a:r>
          </a:p>
        </p:txBody>
      </p:sp>
    </p:spTree>
    <p:extLst>
      <p:ext uri="{BB962C8B-B14F-4D97-AF65-F5344CB8AC3E}">
        <p14:creationId xmlns:p14="http://schemas.microsoft.com/office/powerpoint/2010/main" val="12637577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0D3501-2D29-4EF7-9F04-6DBB306E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2C1F2-60B2-4357-8954-B8B44672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4AFB9-688D-4FAE-B94A-2A09A0ED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BD8724-A310-4873-9E88-C36D999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1206D2-AB0C-44D7-832A-46687FD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VARIABLE DICTIONARY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434CC-4EE1-4712-B4C6-E626BE1D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Seven fields describe demographics, lifestyle risk, geography, and the cost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53A1D-69A7-4CDB-B99E-3FB34F7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The mix of numeric and categorical variables requires encoding before fitting regression models.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99F75-2F83-43AF-B4F0-906386A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B2D45-9EDB-45F9-8CBE-83298AD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Medical Insurance Cost Prediction | Swapnil Banerjee | Roll 0719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1A6DB-B949-4FD9-9DF4-B31BB7D3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899F7-C9D9-490D-BECD-81311819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48541-9788-4B2E-ABE5-B524C6FA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Column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C528E-A250-4315-8C09-3A5B9634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57400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02D53-208D-41FA-A245-DAF4166A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33600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6E4DA-A97C-4435-BD68-3C22B3EB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3429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5B4EE-819D-42C3-8380-1EE7F24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3257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239D2-7B27-4E7C-A6C1-B8641045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AB773-69E7-437D-B720-2374155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401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1F04C-9346-443D-9C15-D4BE0D50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43A38-BFBB-4E40-A72A-79D002FD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50EC0-C5AB-47A8-8408-167FD8A8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86025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9AA36-9B90-483A-A362-BD3BBCA6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62225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Numeric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90DB5-7541-46BB-8958-FF2649C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86025"/>
            <a:ext cx="3429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5FA71-AAA9-43C5-8C68-FD39395A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3257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Client age from 18 to 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B8596-EB35-45E9-869C-197D6602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86025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1B391-2F5F-4980-8680-96AECACD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62225"/>
            <a:ext cx="401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Older clients generally incur higher expected cost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6A28A-B7EE-456C-98E0-2475115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257C48-A903-4363-BF37-31F4248B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77BD2-F4A6-422C-A977-AFA8C44E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732BD-408E-4331-A740-CD9B611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90850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E7C818-B5B2-449C-BD19-C5741EC6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3429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987BE-BDE3-4C54-B31D-09010D90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3257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Male or female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989634-BF53-49AA-B66D-56E573E7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DEFF0E-3C18-4351-9314-6FA552E3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401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Included as demographic control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698CA3-9334-457B-8FCF-03AADAD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46B2A1-39BB-4470-B4FA-84D4DBE8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bmi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22A033-7C04-4B0E-A5E9-BEE2CAF8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43275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FDB47F-10C5-498F-8E65-1C0C37D6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19475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Numeric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E528D3-D005-4B03-9B8D-62ED5F5D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3275"/>
            <a:ext cx="3429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2E6C62-6C56-4F58-868E-0A3758CC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3257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Body mass index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08C8F8-C1C7-4771-AB74-5BF1D347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43275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7C3E37-B8A0-42BC-925E-71E5C512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19475"/>
            <a:ext cx="401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Proxy for clinical risk and obesity status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640C88-DF3B-4CE2-AACD-8A3B5D73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03151A-4A06-4E11-8B0D-F95B1A49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children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5045F5-6B2A-4521-895C-40257C0D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71900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ED9B48-E87D-4258-8839-7DB6911C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48100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Integer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ABDBC5-7D83-45C8-B541-92276616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3429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7B5661-1FE3-487D-8FD8-DD2B7B3F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3257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Number of dependents, 0 to 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DC3F66-D7B0-4111-8B43-8FE516C7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F00752-90F2-4B6A-AEFC-43A889B2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401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Small but positive relationship with charges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772E7E-9EDD-4A31-990A-7E78AC66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79767E-A8B3-4C4E-B416-B872A13E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448EA7-4AF7-4FB7-B24D-0611C4DA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00525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A5A09C-FFD6-42F2-B9C8-01E3EAA7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76725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188112-60BE-410C-9ECC-BED2B62F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00525"/>
            <a:ext cx="3429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BBD227-A45A-4D7C-9150-32DC20C3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76725"/>
            <a:ext cx="3257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Yes or no smoking habit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B0FBE1-80A0-45E1-B939-4B8D9E39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61F3F8-6B8E-4279-AF0F-5DB1015C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76725"/>
            <a:ext cx="401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Dominant risk indicator in this dataset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CEA5D4-8492-40BA-B4E9-E3982A49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79AA43-E261-489B-9A34-AA1A7AD3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76DDCA-B441-420B-BCCE-DB5A5B6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29150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6A972F-EA19-4E64-8670-5E4EA15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05350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51173F-E886-4C16-ADAC-DE871445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3429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174B44-3C82-413A-B65B-C3CCB178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05350"/>
            <a:ext cx="3257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US region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CEB1C9-CBAA-477E-BA75-556C5211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0353E6-0F71-453C-8987-BE56087A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05350"/>
            <a:ext cx="401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Captures geographic cost differences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B95837-779B-4E24-84F5-EE51C6DA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4D076F-6957-4B6D-B3BB-64E3D2FC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charges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1E50EF-73C0-4B30-800F-45B20ABE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57775"/>
            <a:ext cx="138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12C627-1DF7-4733-AE59-78E0D30B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33975"/>
            <a:ext cx="1209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Numeric target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8F73C0-9741-428A-A74F-401D3704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57775"/>
            <a:ext cx="3429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7122E0E-3D11-4BB9-972B-99AA962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33975"/>
            <a:ext cx="3257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Annual billed medical insurance charge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6A7AAC-6E22-468C-82F9-4818FF5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57775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C3C043-BCA4-40A4-B702-A72CFCD6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33975"/>
            <a:ext cx="401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Prediction variable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92D6D0-547E-421A-9D6A-FFDE5C2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62625"/>
            <a:ext cx="828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A2861D-0755-4237-8E78-EF772214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6262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960338-E3AF-4365-BED8-F3C99B7D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95975"/>
            <a:ext cx="792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Modeling target: predict charges. All other columns are used as predictors after encoding and feature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12701724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092EE-A132-4017-B9E2-616F1D1A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25447-9F0D-4DE1-9CD2-E131FB0D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64C67-B29C-422F-9A50-F9DD8CDC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3018085-1F6B-4FD2-B384-F496B4ED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265279-6C0F-44E8-9E5D-EFC6F291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D8EDD-BCD8-448D-82AA-41E0A232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Data quality is strong: no missing values and only one duplicate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EE010-E2E3-452A-8716-5ECC185B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The single duplicate was removed before model training so the evaluation reflects unique client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04BBF-0E46-4CE3-8AAF-9AE45AF2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EC0CF-7700-41A9-81B4-F619D6D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Medical Insurance Cost Prediction | Swapnil Banerjee | Roll 0719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0F0C6-F507-4F16-9BA2-30C9E52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2859B-7E30-43A6-B57B-B8109BCF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981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BD3EF-B0DA-431E-887D-FFD4B546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193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Cleaning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50EA0-2B2C-4582-85E7-1203DF84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05125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7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7EF"/>
                </a:solidFill>
                <a:latin typeface="Aptos"/>
                <a:ea typeface="Aptos"/>
                <a:cs typeface="Aptos"/>
              </a:rPr>
              <a:t>The dataset can move directly into modeling after duplicate removal and categorical encoding.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F67BC-7446-4C3B-88D9-7069B94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6A9DF-53F1-4CBF-84A5-6ECF7BE9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87386-C0F0-41B1-B559-7CE2F84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9117B-601B-41A5-B891-FE50E023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9625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Missing values found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859F5-B06C-4CE5-9561-756861FD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A8A12-E055-4F90-9D29-64949D5D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BED94-A714-4FF7-AABF-34028B19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481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9A2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E9F9F-D4E9-46AD-A597-2691A4D8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19625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Exact duplicate removed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12898-20EB-4F13-A153-4F1037B8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F5DFF-F4C1-4B01-B540-2B438762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E8F37-8203-4457-8380-959512D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F5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3F5C"/>
                </a:solidFill>
                <a:latin typeface="Aptos Display"/>
                <a:ea typeface="Aptos Display"/>
                <a:cs typeface="Aptos Display"/>
              </a:rPr>
              <a:t>1,337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861B5-A16B-44FC-8289-B797C806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9625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Clean records modeled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C84A7-9311-4BBE-BB5D-CE9CB517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1F8E7-1B63-4ABC-9B29-E3EDE31B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5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E0D90-7ED8-4A13-A3F0-DF88091C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29100"/>
            <a:ext cx="1733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Quality implication: model error is driven by real variation in medical charges, not by missing-value repair.</a:t>
            </a:r>
          </a:p>
        </p:txBody>
      </p:sp>
    </p:spTree>
    <p:extLst>
      <p:ext uri="{BB962C8B-B14F-4D97-AF65-F5344CB8AC3E}">
        <p14:creationId xmlns:p14="http://schemas.microsoft.com/office/powerpoint/2010/main" val="12266830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CA84CA-E396-4672-85A0-711BAD66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27D68-F124-4983-82BC-3CE6BE27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00D6F-C6E5-4426-8362-13A7B539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B8EF25-D867-4665-A672-F08AAA7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0BBF834-A452-4C26-9804-E450C8E3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TARGET DISTRIBUTION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3BD15-E0BF-4D82-975B-D53E8331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Medical charges are right-skewed, so high-cost clients drive much of the prediction challenge.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7434F-DB6B-431F-8593-0735FF73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The mean is higher than the median and the top tail reaches more than six times the median charge.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741E8-0D1A-4061-BC49-4A3D6076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2C0FE-03C6-4F25-8C77-EDD2634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Medical Insurance Cost Prediction | Swapnil Banerjee | Roll 0719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44EC0-820F-4880-8EE3-3EDEAC86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14D6A-00A5-4557-9967-67C7037E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431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25th percentile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38502-6B87-4694-9781-9144BE5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71725"/>
            <a:ext cx="474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51026-78DC-4D40-AAA5-F231C201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71725"/>
            <a:ext cx="35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3FDD9-BF67-403C-8828-907E9E5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1457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$4,746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91882-ECF3-4436-B6C0-CE13D21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86088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Median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370BA-34AB-420A-9A16-F773D8FD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14663"/>
            <a:ext cx="474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74FC3-1F3E-4D2A-938D-A0B5038F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14663"/>
            <a:ext cx="69816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02F82-00DA-49A9-8A8D-C1E2E7B0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57513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$9,386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5B525-C88F-4D66-A694-F76E637C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290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75th percentile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C8F6A-9919-4DCD-BD7A-502AF2C3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57600"/>
            <a:ext cx="474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3ECB6-510C-48EE-8E57-A7312BB4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57600"/>
            <a:ext cx="123908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C54DB-D9D5-414F-AEDA-68276DD8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04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$16,658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991DF-C0E9-438C-A307-A720D573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71963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Maximum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9FE47-2E4F-41B3-80A8-523CAC46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00538"/>
            <a:ext cx="474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578408-5A2C-408E-8B5F-FCE6B1FB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00538"/>
            <a:ext cx="474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B5DE7-E8D9-4518-A71E-A34AE335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43388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$63,770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A31C91-7C2C-48A2-B44B-FB8B3A73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000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CD5CB-4E26-497D-8EFD-953CF52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908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A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4A38"/>
                </a:solidFill>
                <a:latin typeface="Aptos"/>
                <a:ea typeface="Aptos"/>
                <a:cs typeface="Aptos"/>
              </a:rPr>
              <a:t>Skew signal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D840A3-FFC1-4A05-89D2-206E60E0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Average charge is $13,279 while median is $9,386. A small high-cost group pulls the average upward.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F7E9B9-BCC5-428A-ACCE-2BE394DE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33400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E77E27-ECD8-4D2D-A26C-3E90927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33400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FE6E7B-C692-4DA1-8205-6A47F79B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467350"/>
            <a:ext cx="830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Interpretation: use MAE alongside RMSE. RMSE penalizes large tail errors, while MAE gives a practical average quote error.</a:t>
            </a:r>
          </a:p>
        </p:txBody>
      </p:sp>
    </p:spTree>
    <p:extLst>
      <p:ext uri="{BB962C8B-B14F-4D97-AF65-F5344CB8AC3E}">
        <p14:creationId xmlns:p14="http://schemas.microsoft.com/office/powerpoint/2010/main" val="8926416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4CB32-A50F-40B8-A9E8-B5753838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46862-B203-4632-B8E7-1B7BD7E7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9BFC4-2AA4-4A82-9AC6-79FACB9C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5D9498E-CBFC-4F98-8ADF-069D5E7C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5BFFFE-06FA-4B82-BA75-DA0EE9C3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COST DRIVERS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4F0C3-A23D-45D0-A4CE-07D6E10A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Smoking status dominates cost, and obesity amplifies the risk for smokers.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2333F-F262-492B-87C0-946331E1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The highest-cost segment is clients who are both smokers and obese, averaging about $41.6k in annual charges.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5AC02-7981-4A91-879E-137E5790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07D17-F1B6-4086-B9BD-B466138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Medical Insurance Cost Prediction | Swapnil Banerjee | Roll 0719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722C2-B6EC-4C92-BD03-54FFD86D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98697-C0E8-4B99-A938-0C6F627A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193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Smoker + obese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EA8E7-D657-4094-A877-0AAE0D1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4790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0F7DA-EBD2-4E11-89E9-81CED46B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4790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BD7B9-E574-47EE-8946-A6085406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$41,558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B5436-E2D7-48C0-B07B-4622A03B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2731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Smoker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3AC7A-94F2-402E-918A-4C1B65FA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31306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EE9F9-E94C-4AFD-A81A-468F781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31306"/>
            <a:ext cx="253631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C698C-56CF-4680-9BC4-9E873C52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74156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$21,363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05D35-6601-45CF-B01B-851CCBDA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6138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Obese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03F83-6DDF-476D-898D-105F558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14713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14EDC-BF9B-4C03-84CF-E7DC8FF1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14713"/>
            <a:ext cx="105142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3399D-8B00-4AFE-9EC8-76D02B7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7563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$8,856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23BEE-C9B1-41D6-8E29-290C2E7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9544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Neither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207B9F-E566-4453-BBE5-4DC04BA5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98119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B0894-1E7C-4B7B-8000-1F6A4B93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98119"/>
            <a:ext cx="94706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FB4EF-903C-4791-AD24-4254BE5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0969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$7,977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98829-B0F0-41CB-8E8B-DC2B6C42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C9A26-8E02-406D-A0EF-6EAA17F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955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$32,050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C48BB9-4584-42B7-B211-891CA1EF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E5E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E5E1"/>
                </a:solidFill>
                <a:latin typeface="Aptos"/>
                <a:ea typeface="Aptos"/>
                <a:cs typeface="Aptos"/>
              </a:rPr>
              <a:t>Average smoker charge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2581FE-6F7E-4613-92BB-BDFA14DE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C8EAD6-A1B8-4578-B9C5-B530A6D8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0517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$8,441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81A14D-4EDA-4ADE-9919-EA57A794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57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3F3E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3F3EA"/>
                </a:solidFill>
                <a:latin typeface="Aptos"/>
                <a:ea typeface="Aptos"/>
                <a:cs typeface="Aptos"/>
              </a:rPr>
              <a:t>Average non-smoker charge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B0972D-EE57-461C-BB3E-70024E3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91125"/>
            <a:ext cx="866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E392CC-5275-4AE5-9B71-BA21B555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91125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30EA30-C34D-4F2B-8EC1-2891EC98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24475"/>
            <a:ext cx="830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Model implication: a smoker-obesity interaction is justified because the combined group is not just slightly higher - it is a distinct high-cost segment.</a:t>
            </a:r>
          </a:p>
        </p:txBody>
      </p:sp>
    </p:spTree>
    <p:extLst>
      <p:ext uri="{BB962C8B-B14F-4D97-AF65-F5344CB8AC3E}">
        <p14:creationId xmlns:p14="http://schemas.microsoft.com/office/powerpoint/2010/main" val="13752835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4A739C-D1CB-489F-B964-86FA9575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9DF78-1B63-49E2-891E-B8757E21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59DF5-EF26-45A6-BB32-897CD084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57959F5-6CCF-47CA-AB8A-FCEB5C8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E4F49EC-5161-4523-AD25-4983AFB0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EF006-EB17-4940-8867-949EAD15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Feature engineering makes the risk pattern visible to the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A67AE-25E2-4362-9403-6B992CE8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The notebook converts categorical fields to numeric model inputs and adds clinically meaningful obesity and smoker-obesity indicators.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6E86D-883F-4C18-B94D-3182D33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AA518-4933-41DD-AB74-F9EC0A49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Medical Insurance Cost Prediction | Swapnil Banerjee | Roll 0719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1BA9B-7E0E-43BB-A578-2FD079C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0BA78-734F-4B9B-8BC5-43229FAD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4DC93-85E0-40A4-ACD0-02096923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247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97D65-9469-4047-BF4B-7A3F09CC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427E2-3DD6-40B9-99FC-BC49288F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57425"/>
            <a:ext cx="600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age, sex, bmi, children, smoker, region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8091B-A4A1-4BC4-8AC5-4F127B59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5747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D2D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D2DA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1908D-D870-4C66-B015-EE46D03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5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39973-2C47-4D73-ABB2-6A9C955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670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Encoded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79469-AA4C-49CF-A8F4-10628D23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1D2B4-F68B-4816-892B-DEFCEEA0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76575"/>
            <a:ext cx="600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smoker_encoded, sex_encoded, region indicators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D7825-4F1E-4F9F-9252-78D2C780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7662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D2D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D2DA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91C7F-A2C8-42A0-B767-0A3AAEA4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7DF6D1-A2B0-4F1B-A3FC-3A846E39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86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flags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5390F-DA7C-4EF0-AEE3-57BE1C31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3380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6F544-3EC1-439C-A5EF-15D6D6CE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95725"/>
            <a:ext cx="600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is_obese = 1 when BMI &gt;= 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BD53A-20E5-4466-9FA1-1A6380F3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9577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D2D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D2DA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7CEBB7-831D-4574-99C8-943E4CD7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49B6E0-5D7D-485B-9533-7F562009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7053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Interaction 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7B874-86E5-4943-B6E0-7B271F89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529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EDA008-F113-466E-8F36-22272168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14875"/>
            <a:ext cx="600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obese_smoker_risk = is_obese x smoker_encoded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63249-59AB-45FB-9645-B2619047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1B05EB-8B45-48D4-B585-2D26BDA4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C9A65C-B4E1-4FD9-AFCA-64600616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53100"/>
            <a:ext cx="821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Why this matters: raw BMI alone is not enough. The model needs to know when obesity and smoking happen together.</a:t>
            </a:r>
          </a:p>
        </p:txBody>
      </p:sp>
    </p:spTree>
    <p:extLst>
      <p:ext uri="{BB962C8B-B14F-4D97-AF65-F5344CB8AC3E}">
        <p14:creationId xmlns:p14="http://schemas.microsoft.com/office/powerpoint/2010/main" val="3306669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5A3915-E0BB-4007-9DA1-B0C06726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48962-0E0E-40F8-94C6-89AEB7BD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93602-340C-4676-BAAC-DD858F0A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38D1348-2A7A-4077-B5D0-91021987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CC1704-8B5A-49C4-8A8F-4E55C34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MODEL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30E41-3A75-460A-85FA-34FD6FE3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Linear Regression is the selected final model because it has the lowest cross-validated MAE.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7DBEA-B8DA-4C00-8D74-4F54C2BC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Ridge and Lasso are nearly tied, while Random Forest is slightly weaker on both holdout and cross-validation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15CFD-DC29-4000-B412-F957B6CA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E8057-28A1-409F-BFC0-52C9D181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Medical Insurance Cost Prediction | Swapnil Banerjee | Roll 0719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A196D-2D97-4DCE-8027-085CC786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9C3DA-DE62-4AEC-85AE-F31B81BB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A2776-311D-412E-AC2F-762C56E8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451AA-39B5-49C9-A14E-D6478BD7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BA760-F0B2-45F5-A913-61170946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717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Holdout R2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02FCF-37C5-4757-9DE3-3FC06902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78C85-A1FB-4CB7-B489-FBF422F0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Holdout MAE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9F2EC-4BB8-4170-A488-ECF0D558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BF3B7-2A56-4A01-9BD9-2726CFB7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 MAE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9D832-C1D0-458A-84BD-6A42B3BF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17662-B822-4C86-AEC5-70CEF40E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 RMSE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7982C-E1C2-469F-85B5-2DA6575C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3F511-CEEA-4318-A11E-6FCB42CE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Linear Regression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5DE4C-76B7-4D4A-BEC8-11595766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527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35844-54B2-44E5-827F-917C9B5B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0.9066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5482C-FB98-4E49-8927-B314F212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4FAF2-7628-4673-99BF-E90C4AD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$2,368.76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3A6F5-FC25-4F3F-B040-893844BF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356DE6-350C-43F4-BB57-B0EB032C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$2,468.36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02335-2162-4343-B1E7-F0530657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14EBA-9B9F-4A76-8E89-8F1968B7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$4,483.75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5D24F7-3AC7-4D09-9D7B-4C47B90F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FCA9BC-CAD4-403C-B2C1-065B6100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Lasso Regression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56AB8-9357-415E-A04C-0B1257AB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00CB73-B462-42BB-A024-14F58F0E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0.9066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980764-F2B3-46D4-BFE5-5078D6D1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08E9A6-56DE-4638-9335-18E89B5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$2,368.81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FA34C4-2EA5-4D82-A2B4-DB14EC8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99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0CE44-B2CB-4C57-8D85-AF3F7331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$2,468.38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48A0E6-C60A-4B7A-AB1D-3FACFD7E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0777C7-F967-4403-B84C-A634B2CB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$4,483.75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EEF812-841D-499B-B462-6905461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42EC00-8863-4B29-8C98-3B16B5F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Ridge Regression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6E5584-45BA-422E-BA6D-B393003B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09C421-6DE5-440B-977E-703EDB5E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433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0.9066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EF3E22-884C-49CC-96E3-48FF2889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671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4269B9-C8C5-4B33-BBE6-AE4069F3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$2,370.14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659EFE-EBBB-48A7-AB8A-EBC00748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009C53-CEFB-40B2-8B42-CBA1E3D9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$2,469.23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2F78E7-862B-4512-A10A-C2E4B38E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BEC02E-29E6-4EB9-8FA7-4FF1442E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$4,483.72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EFEF17-A195-48A9-B6BB-1AD64B2E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2CD8D6-F32A-4AD5-BA74-7CB3434A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515C69-14AA-478D-9D79-6F92ADEB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0BD9CE-BE7A-4BF9-80FC-C8DFA61D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0.9029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BC6555-6B1B-4F50-8EE8-675B1688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5E1B2A-D631-4411-99B1-8F7B7187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$2,402.72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007847-E1C0-45B5-8B75-ACC02B3A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007C44-7112-4E43-A874-034DD79F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$2,503.11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975204-BF32-4ADB-9224-4698C90A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7620">
            <a:solidFill>
              <a:srgbClr val="C7D2D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8E7D42-2C2B-471D-95F4-40340FFD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$4,529.10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AB9E3E-B4AA-4C83-9158-F058F8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28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63AC7B-5B3E-4F32-AC8F-80356B2C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574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AC5C90-E9D1-4504-AF1E-C1BEA51B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57425"/>
            <a:ext cx="8261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5B984E-4C68-42EF-B25B-5B37DDB3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20027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$2,468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90A110-F593-48BB-8E89-F13E517D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69381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Lasso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583D3F-87E7-44D2-B71C-0D33AA1E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97956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20210E-CF25-4B5D-AEF1-34882812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97956"/>
            <a:ext cx="8261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914928-5FB7-4F34-9613-FA4F4505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40806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$2,468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576EB8-BC47-4638-BFF3-8010C4A6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09913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Ridge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203DB47-21E5-45EA-A9A2-876E282C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38488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FF72A6-4960-4E28-9492-463FF197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38488"/>
            <a:ext cx="82648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F08925-7103-417C-B8B8-335DFDB6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81338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$2,469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7C2524-A36D-42C2-917F-33A1A3B8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50444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Forest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CC30DC2-1842-4535-B32C-75959FB2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9019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A2E641-DCE2-4C92-8ABA-625D6E10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9019"/>
            <a:ext cx="83786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EE3D445-5B07-4BE9-B9AF-06DBBE5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21869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$2,503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EBE9381-E84C-4DE7-8B9C-749AC191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9C73C95-2645-43DE-9079-D4920C9E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BEF219-999B-4B8C-898F-0B65FF29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419725"/>
            <a:ext cx="840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Selection rule: choose the model with lowest 5-fold cross-validation MAE, then refit it on all cleaned records before predicting the final client quote.</a:t>
            </a:r>
          </a:p>
        </p:txBody>
      </p:sp>
    </p:spTree>
    <p:extLst>
      <p:ext uri="{BB962C8B-B14F-4D97-AF65-F5344CB8AC3E}">
        <p14:creationId xmlns:p14="http://schemas.microsoft.com/office/powerpoint/2010/main" val="11153328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C8700C-9DC4-4DE3-B1F0-81E39E15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D78D3-7F99-403C-9DF6-6F06AD5B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B0122-60F2-4E82-BF8A-106C09BA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6B72162-A61E-4AE4-B9F1-DC04442B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D621F0-FA00-41A6-BABE-0C766665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FINAL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83DFE-856A-4F17-9C1A-9C39C861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final model estimates the example client's annual medical cost at $42,895.61.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BE2A1-2AA2-4E7B-BC5C-355FF523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The profile is high risk because the client is a smoker with BMI above the obesity threshold.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D627E-01E6-414F-A5B6-03A122C9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F6AEB-0045-4635-950E-F60919E7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Medical Insurance Cost Prediction | Swapnil Banerjee | Roll 0719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1F16A-BA74-4BAF-AF21-C3096F98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D60DF-D827-4BB5-B7DD-F021DF73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381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5BB48-B11E-4CC0-964A-AFD6D981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D6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D6E8"/>
                </a:solidFill>
                <a:latin typeface="Aptos"/>
                <a:ea typeface="Aptos"/>
                <a:cs typeface="Aptos"/>
              </a:rPr>
              <a:t>Predicted annual charge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3A335-6545-4B67-83E5-9C2309B2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0375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$42,895.61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0F5B5-FEC3-4DD3-8B75-CBFC0CB6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352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7E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6E7EF"/>
                </a:solidFill>
                <a:latin typeface="Aptos"/>
                <a:ea typeface="Aptos"/>
                <a:cs typeface="Aptos"/>
              </a:rPr>
              <a:t>Selected model: Linear Regression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D72F7-D964-44F3-A774-E7383A26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4857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027D7-D794-4E7E-9A3C-FE2C7AC9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193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F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F5C"/>
                </a:solidFill>
                <a:latin typeface="Aptos"/>
                <a:ea typeface="Aptos"/>
                <a:cs typeface="Aptos"/>
              </a:rPr>
              <a:t>Client profile used for 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D6758-C472-454A-AB94-70BFEA89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9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B9698-0168-4521-98BE-56BE2B8C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Age: 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2421C-201E-4AED-97F4-4D11E803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6E2CC-2C38-4167-814A-6F8E4A30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BMI: 32.5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7DE26-9DAF-4461-B2B2-50585875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09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8A72E-B254-4E9E-B2F2-9556F514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Dependents: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84AEE-C100-4EA2-8684-7C7842D2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FE13B-98F9-4093-A0C3-5E8B8A6F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Smoking habit: Yes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F1136-13B0-4F5E-8282-13F44E1D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F898B-43CD-441C-A2F3-7BC5C8CD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Sex: Male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48566-7446-497A-9598-76DAE49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2DFE6-9B4A-4D27-A9D7-44394B8B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Region: Southeast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CE6DB-205C-450C-B83A-C74CEBD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2EB731-E8D7-449E-89C0-8A168AF6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AE93E9-1A78-437B-8E71-1ECC62FF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86350"/>
            <a:ext cx="878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Interpretation: smoking and obese-smoker risk are the dominant drivers. The model is useful for explainable quote estimation, but final pricing should still include actuarial policy rules and business constraints.</a:t>
            </a:r>
          </a:p>
        </p:txBody>
      </p:sp>
    </p:spTree>
    <p:extLst>
      <p:ext uri="{BB962C8B-B14F-4D97-AF65-F5344CB8AC3E}">
        <p14:creationId xmlns:p14="http://schemas.microsoft.com/office/powerpoint/2010/main" val="1666571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2026-05-08T20:08:10.2090000Z</dcterms:created>
  <dcterms:modified xsi:type="dcterms:W3CDTF">2026-05-08T20:08:10.2090000Z</dcterms:modified>
</coreProperties>
</file>